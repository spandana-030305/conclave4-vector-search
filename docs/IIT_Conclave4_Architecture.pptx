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0" d="100"/>
          <a:sy n="70" d="100"/>
        </p:scale>
        <p:origin x="536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9ED1F0-5A9C-627C-3E8F-4BCD5B2C2CA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991FB91-505F-BB85-6DC9-984C930A54E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30B3F5-74C3-0FA9-E97B-832413205F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BB9753-AEB5-45D8-879D-9D94C63F33B9}" type="datetimeFigureOut">
              <a:rPr lang="en-IN" smtClean="0"/>
              <a:t>18-01-2026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D116FA-C2E7-94FD-0E49-E7CEA2E6E2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EA4F02-3112-B1B4-005E-C5D09A4E8A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067BA-043C-42C8-85F8-3D5EA32C39D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647627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816B11-75DA-26E4-47F5-15C38986CB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B56DAC-3368-6B85-2C9F-B8C753C3C7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F9A878-B9CF-8946-D282-EDB9D0BE61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BB9753-AEB5-45D8-879D-9D94C63F33B9}" type="datetimeFigureOut">
              <a:rPr lang="en-IN" smtClean="0"/>
              <a:t>18-01-2026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5CA5C78-C917-7F1F-99E7-32272BE13A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9DA0C5-BB34-8B67-4986-A9FD44C853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067BA-043C-42C8-85F8-3D5EA32C39D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168516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641B19-FCCA-1193-2A29-ED404239CA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80C0826-A69D-2E5F-A1B9-6A96C418FA3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6E21EE-B949-2324-0EA3-8981311C13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BB9753-AEB5-45D8-879D-9D94C63F33B9}" type="datetimeFigureOut">
              <a:rPr lang="en-IN" smtClean="0"/>
              <a:t>18-01-2026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503E1F-014F-010B-21B0-4D773A728F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C43499-D959-7F76-409E-A3542B29D7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067BA-043C-42C8-85F8-3D5EA32C39D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198211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48349D-C41D-29AD-AC44-858706F3B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CBFF02-94BA-6EC7-2F3D-CA46BC6F4CE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5FD6BF0-DEC3-C291-AE6C-0FA90809B23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348FC50-AA09-7AE5-08EA-27793F6A1A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BB9753-AEB5-45D8-879D-9D94C63F33B9}" type="datetimeFigureOut">
              <a:rPr lang="en-IN" smtClean="0"/>
              <a:t>18-01-2026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D37FF02-2769-1EFD-FE28-4593AB4209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F0E25E0-E0A6-A5F5-1BCF-7EFD65FCE5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067BA-043C-42C8-85F8-3D5EA32C39D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829214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0E8CF8-793A-68B3-F5F4-EEC6D1C178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11B7EB1-E992-BC61-AD6A-E2D0D081704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2CC4F92-5DD6-EC98-8BD6-6D4244EE477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E966687-247A-6434-15C6-E3FD838B5A4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51273B1-0F41-2A1C-7669-CEBB2D54849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EF895A2-B3D2-1731-6700-35CBBF01B6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BB9753-AEB5-45D8-879D-9D94C63F33B9}" type="datetimeFigureOut">
              <a:rPr lang="en-IN" smtClean="0"/>
              <a:t>18-01-2026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4B72B21-CE1B-2F1D-6A2E-1C47518389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9DCE60E-4276-1539-2C5D-B91F469EA0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067BA-043C-42C8-85F8-3D5EA32C39D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206991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A462E2-AD7D-9804-3CDD-8F0B2E3719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54BA979-DA12-6D46-AB3A-B127AD6F3E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BB9753-AEB5-45D8-879D-9D94C63F33B9}" type="datetimeFigureOut">
              <a:rPr lang="en-IN" smtClean="0"/>
              <a:t>18-01-2026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F2117EF-ABA3-87FF-BF42-3700715AF6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AF58B3F-D899-443F-F90D-3B4430F9FB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067BA-043C-42C8-85F8-3D5EA32C39D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7875546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97F5E5D-3F93-9987-B9C7-6C3B3649D6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BB9753-AEB5-45D8-879D-9D94C63F33B9}" type="datetimeFigureOut">
              <a:rPr lang="en-IN" smtClean="0"/>
              <a:t>18-01-2026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B746E39-9EF1-DC22-709E-0B44354BB4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392C11E-EED2-E407-B49C-75742310C4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067BA-043C-42C8-85F8-3D5EA32C39D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9886802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513837-2267-BA03-7062-6FF2BD36C3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8BCBFA-7B4E-0113-8871-3764ECE23F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0BF1B6D-D835-0946-5CED-A5D29E4AE4E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278648A-477A-9C3D-B1AC-77C4EE4DE1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BB9753-AEB5-45D8-879D-9D94C63F33B9}" type="datetimeFigureOut">
              <a:rPr lang="en-IN" smtClean="0"/>
              <a:t>18-01-2026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719B757-84CA-06A1-FF4E-A244A97559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600BEE2-72A4-6210-BE50-4751B5DCB0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067BA-043C-42C8-85F8-3D5EA32C39D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1709266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55861D-32B4-859A-7CDD-253E64AC26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9C1E6F4-365C-78F5-3D5F-2C7DDBFC089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36FC8E1-A0C0-35D2-9E81-D50AE8E8D54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0F0FB68-D4E8-7D3A-4449-847F51E95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BB9753-AEB5-45D8-879D-9D94C63F33B9}" type="datetimeFigureOut">
              <a:rPr lang="en-IN" smtClean="0"/>
              <a:t>18-01-2026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BE7113A-A658-ABA6-DB87-0A477E1D38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D0A0BB-39C6-9DC1-22CF-5E475FEA97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067BA-043C-42C8-85F8-3D5EA32C39D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1512715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4650A7-1822-137F-3FEC-CC9E0538A6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97FB3A8-7D4B-62F1-E552-77FA8A9DB51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7018E41-9E6C-98B1-DA02-3CFD1767F4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BB9753-AEB5-45D8-879D-9D94C63F33B9}" type="datetimeFigureOut">
              <a:rPr lang="en-IN" smtClean="0"/>
              <a:t>18-01-2026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7D4A54-7EF0-B929-E64B-7C6DD60E1C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04141D-1EDC-0117-0B9B-920B6A3C25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067BA-043C-42C8-85F8-3D5EA32C39D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952001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22B00DA-470B-049D-DA85-3F53CAD27AF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D434F4A-A95A-5B34-BF76-2F71CF058D2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6386A1-E4C7-6E7A-9E4F-687FB82E27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BB9753-AEB5-45D8-879D-9D94C63F33B9}" type="datetimeFigureOut">
              <a:rPr lang="en-IN" smtClean="0"/>
              <a:t>18-01-2026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244A54-5971-5B5D-5A41-1445B5CDD6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D1A5932-02CF-F0E3-1447-5125B0B78F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067BA-043C-42C8-85F8-3D5EA32C39D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868241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4D94828-743C-C96D-A61E-BF91D23A2C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E33D3DF-86C4-9608-1FAB-8B5E3D71929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F1DA08-A9A7-1C54-FEA4-01FF19C79B6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FBB9753-AEB5-45D8-879D-9D94C63F33B9}" type="datetimeFigureOut">
              <a:rPr lang="en-IN" smtClean="0"/>
              <a:t>18-01-2026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4342CD-85FC-B742-1297-9D7E1D96439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3A618A-4575-61CC-688A-9A486120806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3C067BA-043C-42C8-85F8-3D5EA32C39D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042746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qdrant.tech/ai-agents/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09ECB7-BFBC-4581-4C9F-E885B32C23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Rectangle 78">
            <a:extLst>
              <a:ext uri="{FF2B5EF4-FFF2-40B4-BE49-F238E27FC236}">
                <a16:creationId xmlns:a16="http://schemas.microsoft.com/office/drawing/2014/main" id="{608E0E9E-66B0-5BCF-3A96-FBA50EB3D511}"/>
              </a:ext>
            </a:extLst>
          </p:cNvPr>
          <p:cNvSpPr/>
          <p:nvPr/>
        </p:nvSpPr>
        <p:spPr>
          <a:xfrm>
            <a:off x="64008" y="64008"/>
            <a:ext cx="12063984" cy="672084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70E33A7-50EE-4A4C-AEBE-CFDEF2DF1E16}"/>
              </a:ext>
            </a:extLst>
          </p:cNvPr>
          <p:cNvSpPr/>
          <p:nvPr/>
        </p:nvSpPr>
        <p:spPr>
          <a:xfrm>
            <a:off x="2674916" y="969870"/>
            <a:ext cx="1796500" cy="313007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IN" sz="1200" b="1" dirty="0">
                <a:solidFill>
                  <a:schemeClr val="tx1"/>
                </a:solidFill>
                <a:latin typeface="Aptos" panose="020B0004020202020204" pitchFamily="34" charset="0"/>
              </a:rPr>
              <a:t>API Service</a:t>
            </a:r>
            <a:endParaRPr lang="en-IN" sz="1000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0C3273B-7938-2987-8709-887B74BB46E6}"/>
              </a:ext>
            </a:extLst>
          </p:cNvPr>
          <p:cNvSpPr/>
          <p:nvPr/>
        </p:nvSpPr>
        <p:spPr>
          <a:xfrm>
            <a:off x="136499" y="1643933"/>
            <a:ext cx="11865355" cy="507284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IN" sz="1200" b="1" dirty="0">
                <a:solidFill>
                  <a:schemeClr val="tx1"/>
                </a:solidFill>
              </a:rPr>
              <a:t>Contextual Retrieval &amp; Memory Layer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9CAF2791-BCE5-02EF-E2A6-3BE7D05267B0}"/>
              </a:ext>
            </a:extLst>
          </p:cNvPr>
          <p:cNvSpPr/>
          <p:nvPr/>
        </p:nvSpPr>
        <p:spPr>
          <a:xfrm>
            <a:off x="2044716" y="2081679"/>
            <a:ext cx="3185652" cy="170780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1">
                <a:shade val="15000"/>
                <a:alpha val="97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IN" sz="1100" b="1" dirty="0">
                <a:solidFill>
                  <a:schemeClr val="tx1"/>
                </a:solidFill>
                <a:latin typeface="Aptos" panose="020B0004020202020204" pitchFamily="34" charset="0"/>
              </a:rPr>
              <a:t>Long term memory</a:t>
            </a:r>
            <a:endParaRPr lang="en-IN" sz="1100" dirty="0"/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7A931376-CF65-0EF6-186C-1A90CB82EB68}"/>
              </a:ext>
            </a:extLst>
          </p:cNvPr>
          <p:cNvCxnSpPr>
            <a:cxnSpLocks/>
          </p:cNvCxnSpPr>
          <p:nvPr/>
        </p:nvCxnSpPr>
        <p:spPr>
          <a:xfrm>
            <a:off x="3525774" y="1283013"/>
            <a:ext cx="0" cy="79085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4" name="Rectangle 23">
            <a:extLst>
              <a:ext uri="{FF2B5EF4-FFF2-40B4-BE49-F238E27FC236}">
                <a16:creationId xmlns:a16="http://schemas.microsoft.com/office/drawing/2014/main" id="{0FCD8DFF-C704-569F-F39C-C119B06E44F2}"/>
              </a:ext>
            </a:extLst>
          </p:cNvPr>
          <p:cNvSpPr/>
          <p:nvPr/>
        </p:nvSpPr>
        <p:spPr>
          <a:xfrm>
            <a:off x="2722107" y="2426913"/>
            <a:ext cx="1607332" cy="418846"/>
          </a:xfrm>
          <a:prstGeom prst="rect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200" b="1" dirty="0">
                <a:solidFill>
                  <a:schemeClr val="tx1"/>
                </a:solidFill>
                <a:latin typeface="Aptos" panose="020B0004020202020204" pitchFamily="34" charset="0"/>
              </a:rPr>
              <a:t>User Memory &amp; Context</a:t>
            </a:r>
            <a:endParaRPr lang="en-IN" sz="1000" dirty="0"/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F9CE54AB-7B08-E39E-5ED5-236588D27996}"/>
              </a:ext>
            </a:extLst>
          </p:cNvPr>
          <p:cNvSpPr txBox="1"/>
          <p:nvPr/>
        </p:nvSpPr>
        <p:spPr>
          <a:xfrm>
            <a:off x="64008" y="141224"/>
            <a:ext cx="261090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200" b="1" dirty="0"/>
              <a:t>Healthcare Vector Search Architecture</a:t>
            </a:r>
          </a:p>
        </p:txBody>
      </p: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E670AAE5-7BE7-6416-C2E9-90A30EA28238}"/>
              </a:ext>
            </a:extLst>
          </p:cNvPr>
          <p:cNvGrpSpPr/>
          <p:nvPr/>
        </p:nvGrpSpPr>
        <p:grpSpPr>
          <a:xfrm>
            <a:off x="10571488" y="153152"/>
            <a:ext cx="1445614" cy="1047157"/>
            <a:chOff x="10451305" y="5417033"/>
            <a:chExt cx="1445614" cy="1047157"/>
          </a:xfrm>
        </p:grpSpPr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CFE7805D-BAD4-7EB6-F832-55E069F2D147}"/>
                </a:ext>
              </a:extLst>
            </p:cNvPr>
            <p:cNvGrpSpPr/>
            <p:nvPr/>
          </p:nvGrpSpPr>
          <p:grpSpPr>
            <a:xfrm>
              <a:off x="10451305" y="5799419"/>
              <a:ext cx="1192340" cy="246221"/>
              <a:chOff x="9118409" y="367328"/>
              <a:chExt cx="1192340" cy="246221"/>
            </a:xfrm>
            <a:solidFill>
              <a:schemeClr val="accent6">
                <a:lumMod val="40000"/>
                <a:lumOff val="60000"/>
              </a:schemeClr>
            </a:solidFill>
          </p:grpSpPr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8AC9FCCA-63DE-B2D2-7D97-172D818CB06A}"/>
                  </a:ext>
                </a:extLst>
              </p:cNvPr>
              <p:cNvSpPr/>
              <p:nvPr/>
            </p:nvSpPr>
            <p:spPr>
              <a:xfrm>
                <a:off x="9118409" y="418223"/>
                <a:ext cx="508382" cy="176137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AE1BD3EB-126D-BAF3-D4BD-8D13E4BD5CA4}"/>
                  </a:ext>
                </a:extLst>
              </p:cNvPr>
              <p:cNvSpPr txBox="1"/>
              <p:nvPr/>
            </p:nvSpPr>
            <p:spPr>
              <a:xfrm>
                <a:off x="9680448" y="367328"/>
                <a:ext cx="630301" cy="246221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IN" sz="1000" dirty="0"/>
                  <a:t>Memory</a:t>
                </a:r>
              </a:p>
            </p:txBody>
          </p:sp>
        </p:grpSp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91AE366F-7C5D-2F7E-B22D-89F3DC6777D7}"/>
                </a:ext>
              </a:extLst>
            </p:cNvPr>
            <p:cNvGrpSpPr/>
            <p:nvPr/>
          </p:nvGrpSpPr>
          <p:grpSpPr>
            <a:xfrm>
              <a:off x="10451305" y="5417033"/>
              <a:ext cx="1445614" cy="1047157"/>
              <a:chOff x="9118409" y="403226"/>
              <a:chExt cx="1445614" cy="1047157"/>
            </a:xfrm>
          </p:grpSpPr>
          <p:grpSp>
            <p:nvGrpSpPr>
              <p:cNvPr id="4" name="Group 3">
                <a:extLst>
                  <a:ext uri="{FF2B5EF4-FFF2-40B4-BE49-F238E27FC236}">
                    <a16:creationId xmlns:a16="http://schemas.microsoft.com/office/drawing/2014/main" id="{EC2F9D39-440C-6E14-D2BE-804C0BE13C36}"/>
                  </a:ext>
                </a:extLst>
              </p:cNvPr>
              <p:cNvGrpSpPr/>
              <p:nvPr/>
            </p:nvGrpSpPr>
            <p:grpSpPr>
              <a:xfrm>
                <a:off x="9118409" y="403226"/>
                <a:ext cx="1315906" cy="246221"/>
                <a:chOff x="9118409" y="375794"/>
                <a:chExt cx="1315906" cy="246221"/>
              </a:xfrm>
            </p:grpSpPr>
            <p:sp>
              <p:nvSpPr>
                <p:cNvPr id="2" name="Rectangle 1">
                  <a:extLst>
                    <a:ext uri="{FF2B5EF4-FFF2-40B4-BE49-F238E27FC236}">
                      <a16:creationId xmlns:a16="http://schemas.microsoft.com/office/drawing/2014/main" id="{A677617D-7209-30B5-2BD6-5ECC399104EA}"/>
                    </a:ext>
                  </a:extLst>
                </p:cNvPr>
                <p:cNvSpPr/>
                <p:nvPr/>
              </p:nvSpPr>
              <p:spPr>
                <a:xfrm>
                  <a:off x="9118409" y="418223"/>
                  <a:ext cx="508382" cy="176137"/>
                </a:xfrm>
                <a:prstGeom prst="rect">
                  <a:avLst/>
                </a:prstGeom>
                <a:solidFill>
                  <a:schemeClr val="accent5">
                    <a:lumMod val="60000"/>
                    <a:lumOff val="4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IN"/>
                </a:p>
              </p:txBody>
            </p:sp>
            <p:sp>
              <p:nvSpPr>
                <p:cNvPr id="3" name="TextBox 2">
                  <a:extLst>
                    <a:ext uri="{FF2B5EF4-FFF2-40B4-BE49-F238E27FC236}">
                      <a16:creationId xmlns:a16="http://schemas.microsoft.com/office/drawing/2014/main" id="{752E651E-65E1-C07A-E810-0FCFF7121939}"/>
                    </a:ext>
                  </a:extLst>
                </p:cNvPr>
                <p:cNvSpPr txBox="1"/>
                <p:nvPr/>
              </p:nvSpPr>
              <p:spPr>
                <a:xfrm>
                  <a:off x="9646920" y="375794"/>
                  <a:ext cx="787395" cy="246221"/>
                </a:xfrm>
                <a:prstGeom prst="rect">
                  <a:avLst/>
                </a:prstGeom>
                <a:solidFill>
                  <a:schemeClr val="bg1">
                    <a:lumMod val="95000"/>
                  </a:schemeClr>
                </a:solidFill>
              </p:spPr>
              <p:txBody>
                <a:bodyPr wrap="none" rtlCol="0">
                  <a:spAutoFit/>
                </a:bodyPr>
                <a:lstStyle/>
                <a:p>
                  <a:r>
                    <a:rPr lang="en-IN" sz="1000" dirty="0"/>
                    <a:t> API Service</a:t>
                  </a:r>
                </a:p>
              </p:txBody>
            </p:sp>
          </p:grpSp>
          <p:grpSp>
            <p:nvGrpSpPr>
              <p:cNvPr id="9" name="Group 8">
                <a:extLst>
                  <a:ext uri="{FF2B5EF4-FFF2-40B4-BE49-F238E27FC236}">
                    <a16:creationId xmlns:a16="http://schemas.microsoft.com/office/drawing/2014/main" id="{65DA61E0-0F1B-43EE-0425-3B67DA2785BA}"/>
                  </a:ext>
                </a:extLst>
              </p:cNvPr>
              <p:cNvGrpSpPr/>
              <p:nvPr/>
            </p:nvGrpSpPr>
            <p:grpSpPr>
              <a:xfrm>
                <a:off x="9118409" y="594419"/>
                <a:ext cx="1335008" cy="246221"/>
                <a:chOff x="9118409" y="376531"/>
                <a:chExt cx="1335008" cy="246221"/>
              </a:xfrm>
              <a:solidFill>
                <a:schemeClr val="accent6">
                  <a:lumMod val="40000"/>
                  <a:lumOff val="60000"/>
                </a:schemeClr>
              </a:solidFill>
            </p:grpSpPr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A1911E7D-8A5E-B359-D5B0-EBC45E1233CB}"/>
                    </a:ext>
                  </a:extLst>
                </p:cNvPr>
                <p:cNvSpPr/>
                <p:nvPr/>
              </p:nvSpPr>
              <p:spPr>
                <a:xfrm>
                  <a:off x="9118409" y="418223"/>
                  <a:ext cx="508382" cy="176137"/>
                </a:xfrm>
                <a:prstGeom prst="rect">
                  <a:avLst/>
                </a:prstGeom>
                <a:solidFill>
                  <a:schemeClr val="accent6">
                    <a:lumMod val="20000"/>
                    <a:lumOff val="8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IN" dirty="0"/>
                </a:p>
              </p:txBody>
            </p:sp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416ACD88-E1E6-64DB-EF80-110B88515F14}"/>
                    </a:ext>
                  </a:extLst>
                </p:cNvPr>
                <p:cNvSpPr txBox="1"/>
                <p:nvPr/>
              </p:nvSpPr>
              <p:spPr>
                <a:xfrm>
                  <a:off x="9680448" y="376531"/>
                  <a:ext cx="772969" cy="246221"/>
                </a:xfrm>
                <a:prstGeom prst="rect">
                  <a:avLst/>
                </a:prstGeom>
                <a:solidFill>
                  <a:schemeClr val="bg1">
                    <a:lumMod val="95000"/>
                  </a:schemeClr>
                </a:solidFill>
              </p:spPr>
              <p:txBody>
                <a:bodyPr wrap="none" rtlCol="0">
                  <a:spAutoFit/>
                </a:bodyPr>
                <a:lstStyle/>
                <a:p>
                  <a:r>
                    <a:rPr lang="en-IN" sz="1000" dirty="0"/>
                    <a:t>Embedding</a:t>
                  </a:r>
                </a:p>
              </p:txBody>
            </p:sp>
          </p:grpSp>
          <p:grpSp>
            <p:nvGrpSpPr>
              <p:cNvPr id="17" name="Group 16">
                <a:extLst>
                  <a:ext uri="{FF2B5EF4-FFF2-40B4-BE49-F238E27FC236}">
                    <a16:creationId xmlns:a16="http://schemas.microsoft.com/office/drawing/2014/main" id="{30534F95-D77A-0E23-D050-B838519F5A49}"/>
                  </a:ext>
                </a:extLst>
              </p:cNvPr>
              <p:cNvGrpSpPr/>
              <p:nvPr/>
            </p:nvGrpSpPr>
            <p:grpSpPr>
              <a:xfrm>
                <a:off x="9118409" y="984634"/>
                <a:ext cx="1445614" cy="246221"/>
                <a:chOff x="9118409" y="367328"/>
                <a:chExt cx="1445614" cy="246221"/>
              </a:xfrm>
              <a:solidFill>
                <a:schemeClr val="accent6">
                  <a:lumMod val="40000"/>
                  <a:lumOff val="60000"/>
                </a:schemeClr>
              </a:solidFill>
            </p:grpSpPr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91012E52-991A-96D1-39AD-51BB9AEAA670}"/>
                    </a:ext>
                  </a:extLst>
                </p:cNvPr>
                <p:cNvSpPr/>
                <p:nvPr/>
              </p:nvSpPr>
              <p:spPr>
                <a:xfrm>
                  <a:off x="9118409" y="418223"/>
                  <a:ext cx="508382" cy="176137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IN" dirty="0"/>
                </a:p>
              </p:txBody>
            </p:sp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B6B78898-C437-BED9-26EF-A79A4707AC99}"/>
                    </a:ext>
                  </a:extLst>
                </p:cNvPr>
                <p:cNvSpPr txBox="1"/>
                <p:nvPr/>
              </p:nvSpPr>
              <p:spPr>
                <a:xfrm>
                  <a:off x="9680448" y="367328"/>
                  <a:ext cx="883575" cy="246221"/>
                </a:xfrm>
                <a:prstGeom prst="rect">
                  <a:avLst/>
                </a:prstGeom>
                <a:solidFill>
                  <a:schemeClr val="bg1">
                    <a:lumMod val="95000"/>
                  </a:schemeClr>
                </a:solidFill>
              </p:spPr>
              <p:txBody>
                <a:bodyPr wrap="none" rtlCol="0">
                  <a:spAutoFit/>
                </a:bodyPr>
                <a:lstStyle/>
                <a:p>
                  <a:r>
                    <a:rPr lang="en-IN" sz="1000" dirty="0" err="1"/>
                    <a:t>Qdrant</a:t>
                  </a:r>
                  <a:r>
                    <a:rPr lang="en-IN" sz="1000" dirty="0"/>
                    <a:t> Cloud</a:t>
                  </a:r>
                </a:p>
              </p:txBody>
            </p:sp>
          </p:grpSp>
          <p:grpSp>
            <p:nvGrpSpPr>
              <p:cNvPr id="28" name="Group 27">
                <a:extLst>
                  <a:ext uri="{FF2B5EF4-FFF2-40B4-BE49-F238E27FC236}">
                    <a16:creationId xmlns:a16="http://schemas.microsoft.com/office/drawing/2014/main" id="{EC1547BB-F645-270C-0DC4-080381163B80}"/>
                  </a:ext>
                </a:extLst>
              </p:cNvPr>
              <p:cNvGrpSpPr/>
              <p:nvPr/>
            </p:nvGrpSpPr>
            <p:grpSpPr>
              <a:xfrm>
                <a:off x="9127553" y="1204162"/>
                <a:ext cx="1316246" cy="246221"/>
                <a:chOff x="9127553" y="193592"/>
                <a:chExt cx="1316246" cy="246221"/>
              </a:xfrm>
              <a:solidFill>
                <a:schemeClr val="accent6">
                  <a:lumMod val="40000"/>
                  <a:lumOff val="60000"/>
                </a:schemeClr>
              </a:solidFill>
            </p:grpSpPr>
            <p:sp>
              <p:nvSpPr>
                <p:cNvPr id="29" name="Rectangle 28">
                  <a:extLst>
                    <a:ext uri="{FF2B5EF4-FFF2-40B4-BE49-F238E27FC236}">
                      <a16:creationId xmlns:a16="http://schemas.microsoft.com/office/drawing/2014/main" id="{2D8F6B2C-F45C-F266-E9F9-DA58B839D03F}"/>
                    </a:ext>
                  </a:extLst>
                </p:cNvPr>
                <p:cNvSpPr/>
                <p:nvPr/>
              </p:nvSpPr>
              <p:spPr>
                <a:xfrm>
                  <a:off x="9127553" y="226199"/>
                  <a:ext cx="508382" cy="176137"/>
                </a:xfrm>
                <a:prstGeom prst="rect">
                  <a:avLst/>
                </a:prstGeom>
                <a:solidFill>
                  <a:schemeClr val="bg2">
                    <a:lumMod val="9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IN" dirty="0"/>
                </a:p>
              </p:txBody>
            </p:sp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435E9F29-48A5-8FBE-2D7A-085B06538A41}"/>
                    </a:ext>
                  </a:extLst>
                </p:cNvPr>
                <p:cNvSpPr txBox="1"/>
                <p:nvPr/>
              </p:nvSpPr>
              <p:spPr>
                <a:xfrm>
                  <a:off x="9680448" y="193592"/>
                  <a:ext cx="763351" cy="246221"/>
                </a:xfrm>
                <a:prstGeom prst="rect">
                  <a:avLst/>
                </a:prstGeom>
                <a:solidFill>
                  <a:schemeClr val="bg1">
                    <a:lumMod val="95000"/>
                  </a:schemeClr>
                </a:solidFill>
              </p:spPr>
              <p:txBody>
                <a:bodyPr wrap="none" rtlCol="0">
                  <a:spAutoFit/>
                </a:bodyPr>
                <a:lstStyle/>
                <a:p>
                  <a:r>
                    <a:rPr lang="en-IN" sz="1000" dirty="0"/>
                    <a:t>Trust Layer</a:t>
                  </a:r>
                </a:p>
              </p:txBody>
            </p:sp>
          </p:grpSp>
        </p:grpSp>
      </p:grpSp>
      <p:sp>
        <p:nvSpPr>
          <p:cNvPr id="31" name="Rectangle 30">
            <a:extLst>
              <a:ext uri="{FF2B5EF4-FFF2-40B4-BE49-F238E27FC236}">
                <a16:creationId xmlns:a16="http://schemas.microsoft.com/office/drawing/2014/main" id="{2595A878-B1B0-0D68-D3A9-609344674952}"/>
              </a:ext>
            </a:extLst>
          </p:cNvPr>
          <p:cNvSpPr/>
          <p:nvPr/>
        </p:nvSpPr>
        <p:spPr>
          <a:xfrm>
            <a:off x="10532095" y="156051"/>
            <a:ext cx="1462701" cy="10576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35E705CD-F533-7404-BE5A-4425DBD7D5FE}"/>
              </a:ext>
            </a:extLst>
          </p:cNvPr>
          <p:cNvCxnSpPr>
            <a:cxnSpLocks/>
          </p:cNvCxnSpPr>
          <p:nvPr/>
        </p:nvCxnSpPr>
        <p:spPr>
          <a:xfrm>
            <a:off x="3525774" y="2845895"/>
            <a:ext cx="0" cy="3248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0" name="Rectangle: Folded Corner 39">
            <a:extLst>
              <a:ext uri="{FF2B5EF4-FFF2-40B4-BE49-F238E27FC236}">
                <a16:creationId xmlns:a16="http://schemas.microsoft.com/office/drawing/2014/main" id="{246EA849-0535-4887-5573-BED4372C1BAB}"/>
              </a:ext>
            </a:extLst>
          </p:cNvPr>
          <p:cNvSpPr/>
          <p:nvPr/>
        </p:nvSpPr>
        <p:spPr>
          <a:xfrm>
            <a:off x="241555" y="2249427"/>
            <a:ext cx="1666329" cy="651024"/>
          </a:xfrm>
          <a:prstGeom prst="foldedCorner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IN" sz="900" dirty="0">
                <a:solidFill>
                  <a:schemeClr val="tx1"/>
                </a:solidFill>
              </a:rPr>
              <a:t>Long term &amp; Session memory stored using Collections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IN" sz="900" dirty="0">
                <a:solidFill>
                  <a:schemeClr val="tx1"/>
                </a:solidFill>
              </a:rPr>
              <a:t>Personalized knowledge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5B601157-EEAC-AEDD-825E-B496A05A16BA}"/>
              </a:ext>
            </a:extLst>
          </p:cNvPr>
          <p:cNvSpPr/>
          <p:nvPr/>
        </p:nvSpPr>
        <p:spPr>
          <a:xfrm>
            <a:off x="2645323" y="3168982"/>
            <a:ext cx="1689263" cy="41884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200" b="1" dirty="0">
                <a:solidFill>
                  <a:schemeClr val="tx1"/>
                </a:solidFill>
                <a:latin typeface="Aptos" panose="020B0004020202020204" pitchFamily="34" charset="0"/>
              </a:rPr>
              <a:t>Query Vector + Filters</a:t>
            </a:r>
            <a:endParaRPr lang="en-IN" sz="1200" dirty="0"/>
          </a:p>
        </p:txBody>
      </p:sp>
      <p:sp>
        <p:nvSpPr>
          <p:cNvPr id="44" name="Rectangle: Folded Corner 43">
            <a:extLst>
              <a:ext uri="{FF2B5EF4-FFF2-40B4-BE49-F238E27FC236}">
                <a16:creationId xmlns:a16="http://schemas.microsoft.com/office/drawing/2014/main" id="{5BEA2A27-01F8-3867-F5F5-5E6BAAAC6E01}"/>
              </a:ext>
            </a:extLst>
          </p:cNvPr>
          <p:cNvSpPr/>
          <p:nvPr/>
        </p:nvSpPr>
        <p:spPr>
          <a:xfrm>
            <a:off x="228874" y="3553162"/>
            <a:ext cx="1447896" cy="438351"/>
          </a:xfrm>
          <a:prstGeom prst="foldedCorner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IN" sz="900" dirty="0">
                <a:solidFill>
                  <a:schemeClr val="tx1"/>
                </a:solidFill>
              </a:rPr>
              <a:t>User Query Embeddings &amp; Search filters</a:t>
            </a:r>
          </a:p>
        </p:txBody>
      </p:sp>
      <p:grpSp>
        <p:nvGrpSpPr>
          <p:cNvPr id="75" name="Group 74">
            <a:extLst>
              <a:ext uri="{FF2B5EF4-FFF2-40B4-BE49-F238E27FC236}">
                <a16:creationId xmlns:a16="http://schemas.microsoft.com/office/drawing/2014/main" id="{263AF9B7-2DC0-9D24-439D-E7A97C1E69B8}"/>
              </a:ext>
            </a:extLst>
          </p:cNvPr>
          <p:cNvGrpSpPr/>
          <p:nvPr/>
        </p:nvGrpSpPr>
        <p:grpSpPr>
          <a:xfrm>
            <a:off x="1239334" y="4323089"/>
            <a:ext cx="4706899" cy="1183016"/>
            <a:chOff x="7243467" y="2632618"/>
            <a:chExt cx="4706899" cy="1183016"/>
          </a:xfrm>
        </p:grpSpPr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303838B8-2CDF-B8CD-94F6-69C4DF70B3C9}"/>
                </a:ext>
              </a:extLst>
            </p:cNvPr>
            <p:cNvSpPr/>
            <p:nvPr/>
          </p:nvSpPr>
          <p:spPr>
            <a:xfrm>
              <a:off x="7243467" y="2632618"/>
              <a:ext cx="4706899" cy="1183016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solidFill>
                <a:schemeClr val="accent1">
                  <a:shade val="15000"/>
                  <a:alpha val="97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 anchorCtr="0"/>
            <a:lstStyle/>
            <a:p>
              <a:r>
                <a:rPr lang="en-IN" sz="1100" b="1" dirty="0">
                  <a:solidFill>
                    <a:schemeClr val="tx1"/>
                  </a:solidFill>
                  <a:latin typeface="Aptos" panose="020B0004020202020204" pitchFamily="34" charset="0"/>
                </a:rPr>
                <a:t>Embedding Model</a:t>
              </a:r>
              <a:endParaRPr lang="en-IN" sz="1100" dirty="0"/>
            </a:p>
          </p:txBody>
        </p:sp>
        <p:sp>
          <p:nvSpPr>
            <p:cNvPr id="71" name="Rectangle 70">
              <a:extLst>
                <a:ext uri="{FF2B5EF4-FFF2-40B4-BE49-F238E27FC236}">
                  <a16:creationId xmlns:a16="http://schemas.microsoft.com/office/drawing/2014/main" id="{75424F1D-5D4F-DA4A-5EF6-4BC86B6C4AD7}"/>
                </a:ext>
              </a:extLst>
            </p:cNvPr>
            <p:cNvSpPr/>
            <p:nvPr/>
          </p:nvSpPr>
          <p:spPr>
            <a:xfrm>
              <a:off x="7383300" y="3168982"/>
              <a:ext cx="1414926" cy="452045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N" sz="1200" b="1" dirty="0">
                  <a:solidFill>
                    <a:schemeClr val="tx1"/>
                  </a:solidFill>
                  <a:latin typeface="Aptos" panose="020B0004020202020204" pitchFamily="34" charset="0"/>
                </a:rPr>
                <a:t>Text Encoder</a:t>
              </a:r>
            </a:p>
            <a:p>
              <a:pPr algn="ctr"/>
              <a:r>
                <a:rPr lang="en-IN" sz="1000" dirty="0">
                  <a:solidFill>
                    <a:schemeClr val="tx1"/>
                  </a:solidFill>
                  <a:latin typeface="Aptos" panose="020B0004020202020204" pitchFamily="34" charset="0"/>
                </a:rPr>
                <a:t>BERT, SBERT, etc</a:t>
              </a:r>
              <a:endParaRPr lang="en-IN" sz="1000" dirty="0"/>
            </a:p>
          </p:txBody>
        </p:sp>
        <p:sp>
          <p:nvSpPr>
            <p:cNvPr id="73" name="Rectangle 72">
              <a:extLst>
                <a:ext uri="{FF2B5EF4-FFF2-40B4-BE49-F238E27FC236}">
                  <a16:creationId xmlns:a16="http://schemas.microsoft.com/office/drawing/2014/main" id="{83680F6B-4591-63CF-ADBB-1D8668B47D3B}"/>
                </a:ext>
              </a:extLst>
            </p:cNvPr>
            <p:cNvSpPr/>
            <p:nvPr/>
          </p:nvSpPr>
          <p:spPr>
            <a:xfrm>
              <a:off x="8844278" y="3175828"/>
              <a:ext cx="1414926" cy="452045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N" sz="1200" b="1" dirty="0">
                  <a:solidFill>
                    <a:schemeClr val="tx1"/>
                  </a:solidFill>
                  <a:latin typeface="Aptos" panose="020B0004020202020204" pitchFamily="34" charset="0"/>
                </a:rPr>
                <a:t>Image Encoder</a:t>
              </a:r>
            </a:p>
            <a:p>
              <a:pPr algn="ctr"/>
              <a:r>
                <a:rPr lang="en-IN" sz="1000" dirty="0">
                  <a:solidFill>
                    <a:schemeClr val="tx1"/>
                  </a:solidFill>
                  <a:latin typeface="Aptos" panose="020B0004020202020204" pitchFamily="34" charset="0"/>
                </a:rPr>
                <a:t>CLIP, VIT, etc</a:t>
              </a:r>
              <a:endParaRPr lang="en-IN" sz="1000" dirty="0"/>
            </a:p>
          </p:txBody>
        </p:sp>
        <p:sp>
          <p:nvSpPr>
            <p:cNvPr id="74" name="Rectangle 73">
              <a:extLst>
                <a:ext uri="{FF2B5EF4-FFF2-40B4-BE49-F238E27FC236}">
                  <a16:creationId xmlns:a16="http://schemas.microsoft.com/office/drawing/2014/main" id="{156AC597-3BF1-0E8E-1882-F617573A2A18}"/>
                </a:ext>
              </a:extLst>
            </p:cNvPr>
            <p:cNvSpPr/>
            <p:nvPr/>
          </p:nvSpPr>
          <p:spPr>
            <a:xfrm>
              <a:off x="10305256" y="3168982"/>
              <a:ext cx="1458572" cy="452045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N" sz="1200" b="1" dirty="0">
                  <a:solidFill>
                    <a:schemeClr val="tx1"/>
                  </a:solidFill>
                  <a:latin typeface="Aptos" panose="020B0004020202020204" pitchFamily="34" charset="0"/>
                </a:rPr>
                <a:t>Audio Encoder</a:t>
              </a:r>
            </a:p>
            <a:p>
              <a:pPr algn="ctr"/>
              <a:r>
                <a:rPr lang="en-IN" sz="1000" dirty="0">
                  <a:solidFill>
                    <a:schemeClr val="tx1"/>
                  </a:solidFill>
                  <a:latin typeface="Aptos" panose="020B0004020202020204" pitchFamily="34" charset="0"/>
                </a:rPr>
                <a:t>Whisper, Wav2vec, etc</a:t>
              </a:r>
              <a:endParaRPr lang="en-IN" sz="1000" dirty="0"/>
            </a:p>
          </p:txBody>
        </p:sp>
      </p:grpSp>
      <p:cxnSp>
        <p:nvCxnSpPr>
          <p:cNvPr id="78" name="Straight Arrow Connector 77">
            <a:extLst>
              <a:ext uri="{FF2B5EF4-FFF2-40B4-BE49-F238E27FC236}">
                <a16:creationId xmlns:a16="http://schemas.microsoft.com/office/drawing/2014/main" id="{66B61D45-2F5F-5338-053D-B986BC7D93AA}"/>
              </a:ext>
            </a:extLst>
          </p:cNvPr>
          <p:cNvCxnSpPr>
            <a:cxnSpLocks/>
          </p:cNvCxnSpPr>
          <p:nvPr/>
        </p:nvCxnSpPr>
        <p:spPr>
          <a:xfrm>
            <a:off x="3483096" y="3796467"/>
            <a:ext cx="0" cy="52316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2" name="Rectangle 81">
            <a:extLst>
              <a:ext uri="{FF2B5EF4-FFF2-40B4-BE49-F238E27FC236}">
                <a16:creationId xmlns:a16="http://schemas.microsoft.com/office/drawing/2014/main" id="{2E042797-D88F-320E-D171-30E1DF035E7F}"/>
              </a:ext>
            </a:extLst>
          </p:cNvPr>
          <p:cNvSpPr/>
          <p:nvPr/>
        </p:nvSpPr>
        <p:spPr>
          <a:xfrm>
            <a:off x="7495710" y="2353419"/>
            <a:ext cx="3698920" cy="2564983"/>
          </a:xfrm>
          <a:prstGeom prst="rect">
            <a:avLst/>
          </a:prstGeom>
          <a:solidFill>
            <a:schemeClr val="bg1"/>
          </a:solidFill>
          <a:ln>
            <a:solidFill>
              <a:schemeClr val="accent1">
                <a:shade val="15000"/>
                <a:alpha val="97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IN" sz="1100" b="1" dirty="0" err="1">
                <a:solidFill>
                  <a:schemeClr val="tx1"/>
                </a:solidFill>
                <a:latin typeface="Aptos" panose="020B0004020202020204" pitchFamily="34" charset="0"/>
              </a:rPr>
              <a:t>Qdrant</a:t>
            </a:r>
            <a:r>
              <a:rPr lang="en-IN" sz="1100" b="1" dirty="0">
                <a:solidFill>
                  <a:schemeClr val="tx1"/>
                </a:solidFill>
                <a:latin typeface="Aptos" panose="020B0004020202020204" pitchFamily="34" charset="0"/>
              </a:rPr>
              <a:t> Cloud</a:t>
            </a:r>
            <a:endParaRPr lang="en-IN" sz="1100" dirty="0"/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926ED7D1-4CAC-086B-5672-091A121CAAFC}"/>
              </a:ext>
            </a:extLst>
          </p:cNvPr>
          <p:cNvSpPr/>
          <p:nvPr/>
        </p:nvSpPr>
        <p:spPr>
          <a:xfrm>
            <a:off x="8652975" y="4287679"/>
            <a:ext cx="1918513" cy="452045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200" b="1" dirty="0">
                <a:solidFill>
                  <a:schemeClr val="tx1"/>
                </a:solidFill>
                <a:latin typeface="Aptos" panose="020B0004020202020204" pitchFamily="34" charset="0"/>
              </a:rPr>
              <a:t>Relevant Results</a:t>
            </a:r>
          </a:p>
          <a:p>
            <a:pPr algn="ctr"/>
            <a:r>
              <a:rPr lang="en-IN" sz="1000" dirty="0">
                <a:solidFill>
                  <a:schemeClr val="tx1"/>
                </a:solidFill>
                <a:latin typeface="Aptos" panose="020B0004020202020204" pitchFamily="34" charset="0"/>
              </a:rPr>
              <a:t>Text, Images, Video</a:t>
            </a:r>
            <a:endParaRPr lang="en-IN" sz="1000" dirty="0"/>
          </a:p>
        </p:txBody>
      </p:sp>
      <p:grpSp>
        <p:nvGrpSpPr>
          <p:cNvPr id="93" name="Group 92">
            <a:extLst>
              <a:ext uri="{FF2B5EF4-FFF2-40B4-BE49-F238E27FC236}">
                <a16:creationId xmlns:a16="http://schemas.microsoft.com/office/drawing/2014/main" id="{C65FFD0D-B5DC-EF78-A348-C6AB1D310205}"/>
              </a:ext>
            </a:extLst>
          </p:cNvPr>
          <p:cNvGrpSpPr/>
          <p:nvPr/>
        </p:nvGrpSpPr>
        <p:grpSpPr>
          <a:xfrm>
            <a:off x="8662118" y="2611667"/>
            <a:ext cx="1918514" cy="1239359"/>
            <a:chOff x="8423350" y="2514600"/>
            <a:chExt cx="1918514" cy="1239359"/>
          </a:xfrm>
        </p:grpSpPr>
        <p:sp>
          <p:nvSpPr>
            <p:cNvPr id="84" name="Rectangle 83">
              <a:extLst>
                <a:ext uri="{FF2B5EF4-FFF2-40B4-BE49-F238E27FC236}">
                  <a16:creationId xmlns:a16="http://schemas.microsoft.com/office/drawing/2014/main" id="{55B4111B-38F1-24AB-CAFF-46C86C33DEC1}"/>
                </a:ext>
              </a:extLst>
            </p:cNvPr>
            <p:cNvSpPr/>
            <p:nvPr/>
          </p:nvSpPr>
          <p:spPr>
            <a:xfrm>
              <a:off x="8423350" y="2514600"/>
              <a:ext cx="1918514" cy="1239359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 sz="1200" b="1" dirty="0">
                <a:solidFill>
                  <a:schemeClr val="tx1"/>
                </a:solidFill>
                <a:latin typeface="Aptos" panose="020B0004020202020204" pitchFamily="34" charset="0"/>
              </a:endParaRPr>
            </a:p>
            <a:p>
              <a:endParaRPr lang="en-IN" sz="1000" dirty="0">
                <a:solidFill>
                  <a:schemeClr val="tx1"/>
                </a:solidFill>
                <a:latin typeface="Aptos" panose="020B0004020202020204" pitchFamily="34" charset="0"/>
              </a:endParaRPr>
            </a:p>
            <a:p>
              <a:endParaRPr lang="en-IN" sz="1000" dirty="0">
                <a:solidFill>
                  <a:schemeClr val="tx1"/>
                </a:solidFill>
                <a:latin typeface="Aptos" panose="020B0004020202020204" pitchFamily="34" charset="0"/>
              </a:endParaRPr>
            </a:p>
            <a:p>
              <a:endParaRPr lang="en-IN" sz="1000" dirty="0">
                <a:solidFill>
                  <a:schemeClr val="tx1"/>
                </a:solidFill>
                <a:latin typeface="Aptos" panose="020B0004020202020204" pitchFamily="34" charset="0"/>
              </a:endParaRPr>
            </a:p>
            <a:p>
              <a:endParaRPr lang="en-IN" sz="1000" dirty="0">
                <a:solidFill>
                  <a:schemeClr val="tx1"/>
                </a:solidFill>
                <a:latin typeface="Aptos" panose="020B0004020202020204" pitchFamily="34" charset="0"/>
              </a:endParaRP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IN" sz="1000" dirty="0">
                  <a:solidFill>
                    <a:schemeClr val="tx1"/>
                  </a:solidFill>
                  <a:latin typeface="Aptos" panose="020B0004020202020204" pitchFamily="34" charset="0"/>
                </a:rPr>
                <a:t>Stored Document Embeddings (Image, text, audio)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IN" sz="1000" dirty="0">
                  <a:solidFill>
                    <a:schemeClr val="tx1"/>
                  </a:solidFill>
                  <a:latin typeface="Aptos" panose="020B0004020202020204" pitchFamily="34" charset="0"/>
                </a:rPr>
                <a:t>Payload Metadata</a:t>
              </a:r>
            </a:p>
            <a:p>
              <a:endParaRPr lang="en-IN" sz="1000" dirty="0"/>
            </a:p>
          </p:txBody>
        </p:sp>
        <p:pic>
          <p:nvPicPr>
            <p:cNvPr id="89" name="Picture 88">
              <a:extLst>
                <a:ext uri="{FF2B5EF4-FFF2-40B4-BE49-F238E27FC236}">
                  <a16:creationId xmlns:a16="http://schemas.microsoft.com/office/drawing/2014/main" id="{307049F7-CA02-1032-1DE6-A6BFCF8048E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  <a:ext uri="{837473B0-CC2E-450A-ABE3-18F120FF3D39}">
                  <a1611:picAttrSrcUrl xmlns:a1611="http://schemas.microsoft.com/office/drawing/2016/11/main" r:id="rId3"/>
                </a:ext>
              </a:extLst>
            </a:blip>
            <a:stretch>
              <a:fillRect/>
            </a:stretch>
          </p:blipFill>
          <p:spPr>
            <a:xfrm>
              <a:off x="8423350" y="2514601"/>
              <a:ext cx="1918514" cy="589440"/>
            </a:xfrm>
            <a:prstGeom prst="rect">
              <a:avLst/>
            </a:prstGeom>
          </p:spPr>
        </p:pic>
      </p:grpSp>
      <p:cxnSp>
        <p:nvCxnSpPr>
          <p:cNvPr id="94" name="Straight Arrow Connector 93">
            <a:extLst>
              <a:ext uri="{FF2B5EF4-FFF2-40B4-BE49-F238E27FC236}">
                <a16:creationId xmlns:a16="http://schemas.microsoft.com/office/drawing/2014/main" id="{3947DE0B-6788-934A-396C-F11E73A186BD}"/>
              </a:ext>
            </a:extLst>
          </p:cNvPr>
          <p:cNvCxnSpPr>
            <a:cxnSpLocks/>
          </p:cNvCxnSpPr>
          <p:nvPr/>
        </p:nvCxnSpPr>
        <p:spPr>
          <a:xfrm>
            <a:off x="9557766" y="3848840"/>
            <a:ext cx="0" cy="43236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9" name="TextBox 178">
            <a:extLst>
              <a:ext uri="{FF2B5EF4-FFF2-40B4-BE49-F238E27FC236}">
                <a16:creationId xmlns:a16="http://schemas.microsoft.com/office/drawing/2014/main" id="{99259AD2-BA83-47D1-D89B-7EA136CC62A2}"/>
              </a:ext>
            </a:extLst>
          </p:cNvPr>
          <p:cNvSpPr txBox="1"/>
          <p:nvPr/>
        </p:nvSpPr>
        <p:spPr>
          <a:xfrm>
            <a:off x="9557766" y="3913361"/>
            <a:ext cx="161775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000" dirty="0"/>
              <a:t>Semantic Search &amp; Filtering</a:t>
            </a:r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332E63D2-C30C-0543-58BE-58849BF631B8}"/>
              </a:ext>
            </a:extLst>
          </p:cNvPr>
          <p:cNvSpPr/>
          <p:nvPr/>
        </p:nvSpPr>
        <p:spPr>
          <a:xfrm>
            <a:off x="7495710" y="5479372"/>
            <a:ext cx="2786074" cy="104084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1">
                <a:shade val="15000"/>
                <a:alpha val="97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IN" sz="1100" b="1" dirty="0">
                <a:solidFill>
                  <a:schemeClr val="tx1"/>
                </a:solidFill>
                <a:latin typeface="Aptos" panose="020B0004020202020204" pitchFamily="34" charset="0"/>
              </a:rPr>
              <a:t>Responsible Use &amp; Trust Layer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IN" sz="1100" dirty="0">
                <a:solidFill>
                  <a:schemeClr val="tx1"/>
                </a:solidFill>
                <a:latin typeface="Aptos" panose="020B0004020202020204" pitchFamily="34" charset="0"/>
              </a:rPr>
              <a:t>Dataset Ethics – PMC Open Access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IN" sz="1100" dirty="0">
                <a:solidFill>
                  <a:schemeClr val="tx1"/>
                </a:solidFill>
                <a:latin typeface="Aptos" panose="020B0004020202020204" pitchFamily="34" charset="0"/>
              </a:rPr>
              <a:t>Deployment – </a:t>
            </a:r>
            <a:r>
              <a:rPr lang="en-IN" sz="1100" dirty="0" err="1">
                <a:solidFill>
                  <a:schemeClr val="tx1"/>
                </a:solidFill>
                <a:latin typeface="Aptos" panose="020B0004020202020204" pitchFamily="34" charset="0"/>
              </a:rPr>
              <a:t>Hackthon</a:t>
            </a:r>
            <a:r>
              <a:rPr lang="en-IN" sz="1100" dirty="0">
                <a:solidFill>
                  <a:schemeClr val="tx1"/>
                </a:solidFill>
                <a:latin typeface="Aptos" panose="020B0004020202020204" pitchFamily="34" charset="0"/>
              </a:rPr>
              <a:t> (not diagnosis)</a:t>
            </a:r>
            <a:endParaRPr lang="en-IN" sz="1100" dirty="0"/>
          </a:p>
        </p:txBody>
      </p:sp>
      <p:cxnSp>
        <p:nvCxnSpPr>
          <p:cNvPr id="97" name="Connector: Elbow 96">
            <a:extLst>
              <a:ext uri="{FF2B5EF4-FFF2-40B4-BE49-F238E27FC236}">
                <a16:creationId xmlns:a16="http://schemas.microsoft.com/office/drawing/2014/main" id="{B6DF5359-F7E6-703C-6691-F8C3491A71FD}"/>
              </a:ext>
            </a:extLst>
          </p:cNvPr>
          <p:cNvCxnSpPr>
            <a:stCxn id="69" idx="3"/>
          </p:cNvCxnSpPr>
          <p:nvPr/>
        </p:nvCxnSpPr>
        <p:spPr>
          <a:xfrm flipV="1">
            <a:off x="5946233" y="4193762"/>
            <a:ext cx="1570693" cy="720835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9" name="Connector: Elbow 98">
            <a:extLst>
              <a:ext uri="{FF2B5EF4-FFF2-40B4-BE49-F238E27FC236}">
                <a16:creationId xmlns:a16="http://schemas.microsoft.com/office/drawing/2014/main" id="{F10C4098-D228-B01E-57A0-6C787CEFE7C7}"/>
              </a:ext>
            </a:extLst>
          </p:cNvPr>
          <p:cNvCxnSpPr>
            <a:stCxn id="85" idx="1"/>
            <a:endCxn id="8" idx="3"/>
          </p:cNvCxnSpPr>
          <p:nvPr/>
        </p:nvCxnSpPr>
        <p:spPr>
          <a:xfrm rot="10800000">
            <a:off x="4471417" y="1126374"/>
            <a:ext cx="4181559" cy="3387328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3" name="Connector: Elbow 102">
            <a:extLst>
              <a:ext uri="{FF2B5EF4-FFF2-40B4-BE49-F238E27FC236}">
                <a16:creationId xmlns:a16="http://schemas.microsoft.com/office/drawing/2014/main" id="{D5AFADD4-8FC9-C15A-1997-9C631EF42FBB}"/>
              </a:ext>
            </a:extLst>
          </p:cNvPr>
          <p:cNvCxnSpPr>
            <a:cxnSpLocks/>
            <a:stCxn id="85" idx="2"/>
            <a:endCxn id="24" idx="3"/>
          </p:cNvCxnSpPr>
          <p:nvPr/>
        </p:nvCxnSpPr>
        <p:spPr>
          <a:xfrm rot="5400000" flipH="1">
            <a:off x="5919142" y="1046634"/>
            <a:ext cx="2103388" cy="5282793"/>
          </a:xfrm>
          <a:prstGeom prst="bentConnector4">
            <a:avLst>
              <a:gd name="adj1" fmla="val -24345"/>
              <a:gd name="adj2" fmla="val 45405"/>
            </a:avLst>
          </a:prstGeom>
          <a:ln>
            <a:prstDash val="dash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2" name="Rectangle: Folded Corner 111">
            <a:extLst>
              <a:ext uri="{FF2B5EF4-FFF2-40B4-BE49-F238E27FC236}">
                <a16:creationId xmlns:a16="http://schemas.microsoft.com/office/drawing/2014/main" id="{C3E0321C-928C-287E-BA50-8C3AC9839DB5}"/>
              </a:ext>
            </a:extLst>
          </p:cNvPr>
          <p:cNvSpPr/>
          <p:nvPr/>
        </p:nvSpPr>
        <p:spPr>
          <a:xfrm>
            <a:off x="3260583" y="5944956"/>
            <a:ext cx="1111044" cy="317041"/>
          </a:xfrm>
          <a:prstGeom prst="foldedCorner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IN" sz="900" dirty="0">
                <a:solidFill>
                  <a:schemeClr val="tx1"/>
                </a:solidFill>
              </a:rPr>
              <a:t>Vector Generation</a:t>
            </a:r>
          </a:p>
        </p:txBody>
      </p:sp>
      <p:cxnSp>
        <p:nvCxnSpPr>
          <p:cNvPr id="115" name="Straight Connector 114">
            <a:extLst>
              <a:ext uri="{FF2B5EF4-FFF2-40B4-BE49-F238E27FC236}">
                <a16:creationId xmlns:a16="http://schemas.microsoft.com/office/drawing/2014/main" id="{E00E07D4-3E8E-7322-C4A6-1AF5D8636632}"/>
              </a:ext>
            </a:extLst>
          </p:cNvPr>
          <p:cNvCxnSpPr>
            <a:stCxn id="112" idx="0"/>
            <a:endCxn id="69" idx="2"/>
          </p:cNvCxnSpPr>
          <p:nvPr/>
        </p:nvCxnSpPr>
        <p:spPr>
          <a:xfrm flipH="1" flipV="1">
            <a:off x="3592784" y="5506105"/>
            <a:ext cx="223321" cy="43885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Straight Connector 129">
            <a:extLst>
              <a:ext uri="{FF2B5EF4-FFF2-40B4-BE49-F238E27FC236}">
                <a16:creationId xmlns:a16="http://schemas.microsoft.com/office/drawing/2014/main" id="{92D5BD80-064F-4D70-DC8C-856656CE3BD7}"/>
              </a:ext>
            </a:extLst>
          </p:cNvPr>
          <p:cNvCxnSpPr>
            <a:stCxn id="44" idx="3"/>
            <a:endCxn id="43" idx="1"/>
          </p:cNvCxnSpPr>
          <p:nvPr/>
        </p:nvCxnSpPr>
        <p:spPr>
          <a:xfrm flipV="1">
            <a:off x="1676770" y="3378405"/>
            <a:ext cx="968553" cy="39393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Straight Connector 132">
            <a:extLst>
              <a:ext uri="{FF2B5EF4-FFF2-40B4-BE49-F238E27FC236}">
                <a16:creationId xmlns:a16="http://schemas.microsoft.com/office/drawing/2014/main" id="{659492FC-F9F4-D4FA-DFD1-45C98E67CA99}"/>
              </a:ext>
            </a:extLst>
          </p:cNvPr>
          <p:cNvCxnSpPr>
            <a:endCxn id="24" idx="1"/>
          </p:cNvCxnSpPr>
          <p:nvPr/>
        </p:nvCxnSpPr>
        <p:spPr>
          <a:xfrm>
            <a:off x="1907885" y="2636336"/>
            <a:ext cx="814222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4" name="TextBox 133">
            <a:extLst>
              <a:ext uri="{FF2B5EF4-FFF2-40B4-BE49-F238E27FC236}">
                <a16:creationId xmlns:a16="http://schemas.microsoft.com/office/drawing/2014/main" id="{5F58E7C7-9456-F233-C5EF-1B5185D89EAC}"/>
              </a:ext>
            </a:extLst>
          </p:cNvPr>
          <p:cNvSpPr txBox="1"/>
          <p:nvPr/>
        </p:nvSpPr>
        <p:spPr>
          <a:xfrm>
            <a:off x="6148248" y="3603762"/>
            <a:ext cx="137890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000" dirty="0"/>
              <a:t>Top-K Similar Matches </a:t>
            </a:r>
          </a:p>
        </p:txBody>
      </p:sp>
    </p:spTree>
    <p:extLst>
      <p:ext uri="{BB962C8B-B14F-4D97-AF65-F5344CB8AC3E}">
        <p14:creationId xmlns:p14="http://schemas.microsoft.com/office/powerpoint/2010/main" val="305247561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1514</TotalTime>
  <Words>118</Words>
  <Application>Microsoft Office PowerPoint</Application>
  <PresentationFormat>Widescreen</PresentationFormat>
  <Paragraphs>37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Arial</vt:lpstr>
      <vt:lpstr>Calibri</vt:lpstr>
      <vt:lpstr>Calibri Light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Sai Spandana Chalasani</dc:creator>
  <cp:lastModifiedBy>Sai Spandana Chalasani</cp:lastModifiedBy>
  <cp:revision>37</cp:revision>
  <dcterms:created xsi:type="dcterms:W3CDTF">2025-10-14T04:36:44Z</dcterms:created>
  <dcterms:modified xsi:type="dcterms:W3CDTF">2026-01-18T05:57:48Z</dcterms:modified>
</cp:coreProperties>
</file>