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D1F0-5A9C-627C-3E8F-4BCD5B2C2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1FB91-505F-BB85-6DC9-984C930A5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0B3F5-74C3-0FA9-E97B-83241320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16FA-C2E7-94FD-0E49-E7CEA2E6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4F02-3112-B1B4-005E-C5D09A4E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62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6B11-75DA-26E4-47F5-15C38986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56DAC-3368-6B85-2C9F-B8C753C3C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9A878-B9CF-8946-D282-EDB9D0BE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A5C78-C917-7F1F-99E7-32272BE1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DA0C5-BB34-8B67-4986-A9FD44C85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5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41B19-FCCA-1193-2A29-ED404239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C0826-A69D-2E5F-A1B9-6A96C418F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E21EE-B949-2324-0EA3-8981311C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03E1F-014F-010B-21B0-4D773A72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43499-D959-7F76-409E-A3542B29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82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349D-C41D-29AD-AC44-858706F3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BFF02-94BA-6EC7-2F3D-CA46BC6F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D6BF0-DEC3-C291-AE6C-0FA90809B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8FC50-AA09-7AE5-08EA-27793F6A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7FF02-2769-1EFD-FE28-4593AB42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E25E0-E0A6-A5F5-1BCF-7EFD65FC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921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8CF8-793A-68B3-F5F4-EEC6D1C1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B7EB1-E992-BC61-AD6A-E2D0D0817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C4F92-5DD6-EC98-8BD6-6D4244EE4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6687-247A-6434-15C6-E3FD838B5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273B1-0F41-2A1C-7669-CEBB2D548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895A2-B3D2-1731-6700-35CBBF01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72B21-CE1B-2F1D-6A2E-1C475183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CE60E-4276-1539-2C5D-B91F469E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69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62E2-AD7D-9804-3CDD-8F0B2E37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BA979-DA12-6D46-AB3A-B127AD6F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117EF-ABA3-87FF-BF42-3700715A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58B3F-D899-443F-F90D-3B4430F9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5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F5E5D-3F93-9987-B9C7-6C3B3649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46E39-9EF1-DC22-709E-0B44354B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2C11E-EED2-E407-B49C-75742310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86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3837-2267-BA03-7062-6FF2BD36C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CBFA-7B4E-0113-8871-3764ECE23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F1B6D-D835-0946-5CED-A5D29E4AE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8648A-477A-9C3D-B1AC-77C4EE4D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9B757-84CA-06A1-FF4E-A244A975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0BEE2-72A4-6210-BE50-4751B5DC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09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861D-32B4-859A-7CDD-253E64AC2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1E6F4-365C-78F5-3D5F-2C7DDBFC0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FC8E1-A0C0-35D2-9E81-D50AE8E8D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0FB68-D4E8-7D3A-4449-847F51E9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7113A-A658-ABA6-DB87-0A477E1D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0A0BB-39C6-9DC1-22CF-5E475FEA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12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50A7-1822-137F-3FEC-CC9E0538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FB3A8-7D4B-62F1-E552-77FA8A9DB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18E41-9E6C-98B1-DA02-3CFD1767F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D4A54-7EF0-B929-E64B-7C6DD60E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4141D-1EDC-0117-0B9B-920B6A3C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0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B00DA-470B-049D-DA85-3F53CAD27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34F4A-A95A-5B34-BF76-2F71CF058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386A1-E4C7-6E7A-9E4F-687FB82E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4A54-5971-5B5D-5A41-1445B5CD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5932-02CF-F0E3-1447-5125B0B7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82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94828-743C-C96D-A61E-BF91D23A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3D3DF-86C4-9608-1FAB-8B5E3D719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1DA08-A9A7-1C54-FEA4-01FF19C79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9753-AEB5-45D8-879D-9D94C63F33B9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342CD-85FC-B742-1297-9D7E1D964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A618A-4575-61CC-688A-9A4861208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067BA-043C-42C8-85F8-3D5EA32C3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27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drant.tech/ai-agent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ECB7-BFBC-4581-4C9F-E885B32C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608E0E9E-66B0-5BCF-3A96-FBA50EB3D511}"/>
              </a:ext>
            </a:extLst>
          </p:cNvPr>
          <p:cNvSpPr/>
          <p:nvPr/>
        </p:nvSpPr>
        <p:spPr>
          <a:xfrm>
            <a:off x="64008" y="64008"/>
            <a:ext cx="12063984" cy="67208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0E33A7-50EE-4A4C-AEBE-CFDEF2DF1E16}"/>
              </a:ext>
            </a:extLst>
          </p:cNvPr>
          <p:cNvSpPr/>
          <p:nvPr/>
        </p:nvSpPr>
        <p:spPr>
          <a:xfrm>
            <a:off x="2674916" y="969870"/>
            <a:ext cx="1796500" cy="3130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</a:rPr>
              <a:t>API Service</a:t>
            </a:r>
            <a:endParaRPr lang="en-I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C3273B-7938-2987-8709-887B74BB46E6}"/>
              </a:ext>
            </a:extLst>
          </p:cNvPr>
          <p:cNvSpPr/>
          <p:nvPr/>
        </p:nvSpPr>
        <p:spPr>
          <a:xfrm>
            <a:off x="136499" y="1643933"/>
            <a:ext cx="11865355" cy="50728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N" sz="1200" b="1" dirty="0">
                <a:solidFill>
                  <a:schemeClr val="tx1"/>
                </a:solidFill>
              </a:rPr>
              <a:t>Contextual Retrieval &amp; Memory 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AF2791-BCE5-02EF-E2A6-3BE7D05267B0}"/>
              </a:ext>
            </a:extLst>
          </p:cNvPr>
          <p:cNvSpPr/>
          <p:nvPr/>
        </p:nvSpPr>
        <p:spPr>
          <a:xfrm>
            <a:off x="2044716" y="2081679"/>
            <a:ext cx="3185652" cy="17078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N" sz="1100" b="1" dirty="0">
                <a:solidFill>
                  <a:schemeClr val="tx1"/>
                </a:solidFill>
                <a:latin typeface="Aptos" panose="020B0004020202020204" pitchFamily="34" charset="0"/>
              </a:rPr>
              <a:t>Long term memory</a:t>
            </a:r>
            <a:endParaRPr lang="en-IN" sz="11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931376-CF65-0EF6-186C-1A90CB82EB68}"/>
              </a:ext>
            </a:extLst>
          </p:cNvPr>
          <p:cNvCxnSpPr>
            <a:cxnSpLocks/>
          </p:cNvCxnSpPr>
          <p:nvPr/>
        </p:nvCxnSpPr>
        <p:spPr>
          <a:xfrm>
            <a:off x="3525774" y="1283013"/>
            <a:ext cx="0" cy="790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D8DFF-C704-569F-F39C-C119B06E44F2}"/>
              </a:ext>
            </a:extLst>
          </p:cNvPr>
          <p:cNvSpPr/>
          <p:nvPr/>
        </p:nvSpPr>
        <p:spPr>
          <a:xfrm>
            <a:off x="2722107" y="2426913"/>
            <a:ext cx="1607332" cy="41884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</a:rPr>
              <a:t>User Memory &amp; Context</a:t>
            </a:r>
            <a:endParaRPr lang="en-IN" sz="10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9CE54AB-7B08-E39E-5ED5-236588D27996}"/>
              </a:ext>
            </a:extLst>
          </p:cNvPr>
          <p:cNvSpPr txBox="1"/>
          <p:nvPr/>
        </p:nvSpPr>
        <p:spPr>
          <a:xfrm>
            <a:off x="64008" y="141224"/>
            <a:ext cx="2610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Healthcare Vector Search Architecture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670AAE5-7BE7-6416-C2E9-90A30EA28238}"/>
              </a:ext>
            </a:extLst>
          </p:cNvPr>
          <p:cNvGrpSpPr/>
          <p:nvPr/>
        </p:nvGrpSpPr>
        <p:grpSpPr>
          <a:xfrm>
            <a:off x="10571488" y="153152"/>
            <a:ext cx="1445614" cy="1047157"/>
            <a:chOff x="10451305" y="5417033"/>
            <a:chExt cx="1445614" cy="104715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E7805D-BAD4-7EB6-F832-55E069F2D147}"/>
                </a:ext>
              </a:extLst>
            </p:cNvPr>
            <p:cNvGrpSpPr/>
            <p:nvPr/>
          </p:nvGrpSpPr>
          <p:grpSpPr>
            <a:xfrm>
              <a:off x="10451305" y="5799419"/>
              <a:ext cx="1192340" cy="246221"/>
              <a:chOff x="9118409" y="367328"/>
              <a:chExt cx="1192340" cy="246221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AC9FCCA-63DE-B2D2-7D97-172D818CB06A}"/>
                  </a:ext>
                </a:extLst>
              </p:cNvPr>
              <p:cNvSpPr/>
              <p:nvPr/>
            </p:nvSpPr>
            <p:spPr>
              <a:xfrm>
                <a:off x="9118409" y="418223"/>
                <a:ext cx="508382" cy="17613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1BD3EB-126D-BAF3-D4BD-8D13E4BD5CA4}"/>
                  </a:ext>
                </a:extLst>
              </p:cNvPr>
              <p:cNvSpPr txBox="1"/>
              <p:nvPr/>
            </p:nvSpPr>
            <p:spPr>
              <a:xfrm>
                <a:off x="9680448" y="367328"/>
                <a:ext cx="630301" cy="2462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IN" sz="1000" dirty="0"/>
                  <a:t>Memory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1AE366F-7C5D-2F7E-B22D-89F3DC6777D7}"/>
                </a:ext>
              </a:extLst>
            </p:cNvPr>
            <p:cNvGrpSpPr/>
            <p:nvPr/>
          </p:nvGrpSpPr>
          <p:grpSpPr>
            <a:xfrm>
              <a:off x="10451305" y="5417033"/>
              <a:ext cx="1445614" cy="1047157"/>
              <a:chOff x="9118409" y="403226"/>
              <a:chExt cx="1445614" cy="1047157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EC2F9D39-440C-6E14-D2BE-804C0BE13C36}"/>
                  </a:ext>
                </a:extLst>
              </p:cNvPr>
              <p:cNvGrpSpPr/>
              <p:nvPr/>
            </p:nvGrpSpPr>
            <p:grpSpPr>
              <a:xfrm>
                <a:off x="9118409" y="403226"/>
                <a:ext cx="1315906" cy="246221"/>
                <a:chOff x="9118409" y="375794"/>
                <a:chExt cx="1315906" cy="246221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A677617D-7209-30B5-2BD6-5ECC399104EA}"/>
                    </a:ext>
                  </a:extLst>
                </p:cNvPr>
                <p:cNvSpPr/>
                <p:nvPr/>
              </p:nvSpPr>
              <p:spPr>
                <a:xfrm>
                  <a:off x="9118409" y="418223"/>
                  <a:ext cx="508382" cy="17613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52E651E-65E1-C07A-E810-0FCFF7121939}"/>
                    </a:ext>
                  </a:extLst>
                </p:cNvPr>
                <p:cNvSpPr txBox="1"/>
                <p:nvPr/>
              </p:nvSpPr>
              <p:spPr>
                <a:xfrm>
                  <a:off x="9646920" y="375794"/>
                  <a:ext cx="787395" cy="24622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1000" dirty="0"/>
                    <a:t> API Service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5DA61E0-0F1B-43EE-0425-3B67DA2785BA}"/>
                  </a:ext>
                </a:extLst>
              </p:cNvPr>
              <p:cNvGrpSpPr/>
              <p:nvPr/>
            </p:nvGrpSpPr>
            <p:grpSpPr>
              <a:xfrm>
                <a:off x="9118409" y="594419"/>
                <a:ext cx="1335008" cy="246221"/>
                <a:chOff x="9118409" y="376531"/>
                <a:chExt cx="1335008" cy="246221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1911E7D-8A5E-B359-D5B0-EBC45E1233CB}"/>
                    </a:ext>
                  </a:extLst>
                </p:cNvPr>
                <p:cNvSpPr/>
                <p:nvPr/>
              </p:nvSpPr>
              <p:spPr>
                <a:xfrm>
                  <a:off x="9118409" y="418223"/>
                  <a:ext cx="508382" cy="17613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16ACD88-E1E6-64DB-EF80-110B88515F14}"/>
                    </a:ext>
                  </a:extLst>
                </p:cNvPr>
                <p:cNvSpPr txBox="1"/>
                <p:nvPr/>
              </p:nvSpPr>
              <p:spPr>
                <a:xfrm>
                  <a:off x="9680448" y="376531"/>
                  <a:ext cx="772969" cy="24622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1000" dirty="0"/>
                    <a:t>Embedding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0534F95-D77A-0E23-D050-B838519F5A49}"/>
                  </a:ext>
                </a:extLst>
              </p:cNvPr>
              <p:cNvGrpSpPr/>
              <p:nvPr/>
            </p:nvGrpSpPr>
            <p:grpSpPr>
              <a:xfrm>
                <a:off x="9118409" y="984634"/>
                <a:ext cx="1445614" cy="246221"/>
                <a:chOff x="9118409" y="367328"/>
                <a:chExt cx="1445614" cy="246221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1012E52-991A-96D1-39AD-51BB9AEAA670}"/>
                    </a:ext>
                  </a:extLst>
                </p:cNvPr>
                <p:cNvSpPr/>
                <p:nvPr/>
              </p:nvSpPr>
              <p:spPr>
                <a:xfrm>
                  <a:off x="9118409" y="418223"/>
                  <a:ext cx="508382" cy="17613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6B78898-C437-BED9-26EF-A79A4707AC99}"/>
                    </a:ext>
                  </a:extLst>
                </p:cNvPr>
                <p:cNvSpPr txBox="1"/>
                <p:nvPr/>
              </p:nvSpPr>
              <p:spPr>
                <a:xfrm>
                  <a:off x="9680448" y="367328"/>
                  <a:ext cx="883575" cy="24622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1000" dirty="0" err="1"/>
                    <a:t>Qdrant</a:t>
                  </a:r>
                  <a:r>
                    <a:rPr lang="en-IN" sz="1000" dirty="0"/>
                    <a:t> Cloud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C1547BB-F645-270C-0DC4-080381163B80}"/>
                  </a:ext>
                </a:extLst>
              </p:cNvPr>
              <p:cNvGrpSpPr/>
              <p:nvPr/>
            </p:nvGrpSpPr>
            <p:grpSpPr>
              <a:xfrm>
                <a:off x="9127553" y="1204162"/>
                <a:ext cx="1316246" cy="246221"/>
                <a:chOff x="9127553" y="193592"/>
                <a:chExt cx="1316246" cy="246221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D8F6B2C-F45C-F266-E9F9-DA58B839D03F}"/>
                    </a:ext>
                  </a:extLst>
                </p:cNvPr>
                <p:cNvSpPr/>
                <p:nvPr/>
              </p:nvSpPr>
              <p:spPr>
                <a:xfrm>
                  <a:off x="9127553" y="226199"/>
                  <a:ext cx="508382" cy="176137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35E9F29-48A5-8FBE-2D7A-085B06538A41}"/>
                    </a:ext>
                  </a:extLst>
                </p:cNvPr>
                <p:cNvSpPr txBox="1"/>
                <p:nvPr/>
              </p:nvSpPr>
              <p:spPr>
                <a:xfrm>
                  <a:off x="9680448" y="193592"/>
                  <a:ext cx="763351" cy="24622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1000" dirty="0"/>
                    <a:t>Trust Layer</a:t>
                  </a:r>
                </a:p>
              </p:txBody>
            </p:sp>
          </p:grpSp>
        </p:grp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2595A878-B1B0-0D68-D3A9-609344674952}"/>
              </a:ext>
            </a:extLst>
          </p:cNvPr>
          <p:cNvSpPr/>
          <p:nvPr/>
        </p:nvSpPr>
        <p:spPr>
          <a:xfrm>
            <a:off x="10532095" y="156051"/>
            <a:ext cx="1462701" cy="10576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E705CD-F533-7404-BE5A-4425DBD7D5FE}"/>
              </a:ext>
            </a:extLst>
          </p:cNvPr>
          <p:cNvCxnSpPr>
            <a:cxnSpLocks/>
          </p:cNvCxnSpPr>
          <p:nvPr/>
        </p:nvCxnSpPr>
        <p:spPr>
          <a:xfrm>
            <a:off x="3525774" y="2845895"/>
            <a:ext cx="0" cy="32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: Folded Corner 39">
            <a:extLst>
              <a:ext uri="{FF2B5EF4-FFF2-40B4-BE49-F238E27FC236}">
                <a16:creationId xmlns:a16="http://schemas.microsoft.com/office/drawing/2014/main" id="{246EA849-0535-4887-5573-BED4372C1BAB}"/>
              </a:ext>
            </a:extLst>
          </p:cNvPr>
          <p:cNvSpPr/>
          <p:nvPr/>
        </p:nvSpPr>
        <p:spPr>
          <a:xfrm>
            <a:off x="241555" y="2249427"/>
            <a:ext cx="1666329" cy="651024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/>
                </a:solidFill>
              </a:rPr>
              <a:t>Long term &amp; Session memory stored using Collections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/>
                </a:solidFill>
              </a:rPr>
              <a:t>Personalized knowledge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601157-EEAC-AEDD-825E-B496A05A16BA}"/>
              </a:ext>
            </a:extLst>
          </p:cNvPr>
          <p:cNvSpPr/>
          <p:nvPr/>
        </p:nvSpPr>
        <p:spPr>
          <a:xfrm>
            <a:off x="2645323" y="3168982"/>
            <a:ext cx="1689263" cy="4188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</a:rPr>
              <a:t>Query Vector + Filters</a:t>
            </a:r>
            <a:endParaRPr lang="en-IN" sz="1200" dirty="0"/>
          </a:p>
        </p:txBody>
      </p:sp>
      <p:sp>
        <p:nvSpPr>
          <p:cNvPr id="44" name="Rectangle: Folded Corner 43">
            <a:extLst>
              <a:ext uri="{FF2B5EF4-FFF2-40B4-BE49-F238E27FC236}">
                <a16:creationId xmlns:a16="http://schemas.microsoft.com/office/drawing/2014/main" id="{5BEA2A27-01F8-3867-F5F5-5E6BAAAC6E01}"/>
              </a:ext>
            </a:extLst>
          </p:cNvPr>
          <p:cNvSpPr/>
          <p:nvPr/>
        </p:nvSpPr>
        <p:spPr>
          <a:xfrm>
            <a:off x="228874" y="3553162"/>
            <a:ext cx="1447896" cy="438351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dirty="0">
                <a:solidFill>
                  <a:schemeClr val="tx1"/>
                </a:solidFill>
              </a:rPr>
              <a:t>User Query Embeddings &amp; Search filters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63AF9B7-2DC0-9D24-439D-E7A97C1E69B8}"/>
              </a:ext>
            </a:extLst>
          </p:cNvPr>
          <p:cNvGrpSpPr/>
          <p:nvPr/>
        </p:nvGrpSpPr>
        <p:grpSpPr>
          <a:xfrm>
            <a:off x="1239334" y="4323089"/>
            <a:ext cx="4706899" cy="1183016"/>
            <a:chOff x="7243467" y="2632618"/>
            <a:chExt cx="4706899" cy="118301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03838B8-2CDF-B8CD-94F6-69C4DF70B3C9}"/>
                </a:ext>
              </a:extLst>
            </p:cNvPr>
            <p:cNvSpPr/>
            <p:nvPr/>
          </p:nvSpPr>
          <p:spPr>
            <a:xfrm>
              <a:off x="7243467" y="2632618"/>
              <a:ext cx="4706899" cy="11830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  <a:alpha val="9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IN" sz="11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Embedding Model</a:t>
              </a:r>
              <a:endParaRPr lang="en-IN" sz="11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5424F1D-5D4F-DA4A-5EF6-4BC86B6C4AD7}"/>
                </a:ext>
              </a:extLst>
            </p:cNvPr>
            <p:cNvSpPr/>
            <p:nvPr/>
          </p:nvSpPr>
          <p:spPr>
            <a:xfrm>
              <a:off x="7383300" y="3168982"/>
              <a:ext cx="1414926" cy="45204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Text Encoder</a:t>
              </a:r>
            </a:p>
            <a:p>
              <a:pPr algn="ctr"/>
              <a:r>
                <a:rPr lang="en-IN" sz="1000" dirty="0">
                  <a:solidFill>
                    <a:schemeClr val="tx1"/>
                  </a:solidFill>
                  <a:latin typeface="Aptos" panose="020B0004020202020204" pitchFamily="34" charset="0"/>
                </a:rPr>
                <a:t>BERT, SBERT, etc</a:t>
              </a:r>
              <a:endParaRPr lang="en-IN" sz="10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3680F6B-4591-63CF-ADBB-1D8668B47D3B}"/>
                </a:ext>
              </a:extLst>
            </p:cNvPr>
            <p:cNvSpPr/>
            <p:nvPr/>
          </p:nvSpPr>
          <p:spPr>
            <a:xfrm>
              <a:off x="8844278" y="3175828"/>
              <a:ext cx="1414926" cy="45204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Image Encoder</a:t>
              </a:r>
            </a:p>
            <a:p>
              <a:pPr algn="ctr"/>
              <a:r>
                <a:rPr lang="en-IN" sz="1000" dirty="0">
                  <a:solidFill>
                    <a:schemeClr val="tx1"/>
                  </a:solidFill>
                  <a:latin typeface="Aptos" panose="020B0004020202020204" pitchFamily="34" charset="0"/>
                </a:rPr>
                <a:t>CLIP, VIT, etc</a:t>
              </a:r>
              <a:endParaRPr lang="en-IN" sz="10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56AC597-3BF1-0E8E-1882-F617573A2A18}"/>
                </a:ext>
              </a:extLst>
            </p:cNvPr>
            <p:cNvSpPr/>
            <p:nvPr/>
          </p:nvSpPr>
          <p:spPr>
            <a:xfrm>
              <a:off x="10305256" y="3168982"/>
              <a:ext cx="1458572" cy="45204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Audio Encoder</a:t>
              </a:r>
            </a:p>
            <a:p>
              <a:pPr algn="ctr"/>
              <a:r>
                <a:rPr lang="en-IN" sz="1000" dirty="0">
                  <a:solidFill>
                    <a:schemeClr val="tx1"/>
                  </a:solidFill>
                  <a:latin typeface="Aptos" panose="020B0004020202020204" pitchFamily="34" charset="0"/>
                </a:rPr>
                <a:t>Whisper, Wav2vec, etc</a:t>
              </a:r>
              <a:endParaRPr lang="en-IN" sz="1000" dirty="0"/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6B61D45-2F5F-5338-053D-B986BC7D93AA}"/>
              </a:ext>
            </a:extLst>
          </p:cNvPr>
          <p:cNvCxnSpPr>
            <a:cxnSpLocks/>
          </p:cNvCxnSpPr>
          <p:nvPr/>
        </p:nvCxnSpPr>
        <p:spPr>
          <a:xfrm>
            <a:off x="3483096" y="3796467"/>
            <a:ext cx="0" cy="523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2E042797-D88F-320E-D171-30E1DF035E7F}"/>
              </a:ext>
            </a:extLst>
          </p:cNvPr>
          <p:cNvSpPr/>
          <p:nvPr/>
        </p:nvSpPr>
        <p:spPr>
          <a:xfrm>
            <a:off x="7495710" y="2353419"/>
            <a:ext cx="3698920" cy="256498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N" sz="1100" b="1" dirty="0" err="1">
                <a:solidFill>
                  <a:schemeClr val="tx1"/>
                </a:solidFill>
                <a:latin typeface="Aptos" panose="020B0004020202020204" pitchFamily="34" charset="0"/>
              </a:rPr>
              <a:t>Qdrant</a:t>
            </a:r>
            <a:r>
              <a:rPr lang="en-IN" sz="1100" b="1" dirty="0">
                <a:solidFill>
                  <a:schemeClr val="tx1"/>
                </a:solidFill>
                <a:latin typeface="Aptos" panose="020B0004020202020204" pitchFamily="34" charset="0"/>
              </a:rPr>
              <a:t> Cloud</a:t>
            </a:r>
            <a:endParaRPr lang="en-IN" sz="11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26ED7D1-4CAC-086B-5672-091A121CAAFC}"/>
              </a:ext>
            </a:extLst>
          </p:cNvPr>
          <p:cNvSpPr/>
          <p:nvPr/>
        </p:nvSpPr>
        <p:spPr>
          <a:xfrm>
            <a:off x="8652975" y="4287679"/>
            <a:ext cx="1918513" cy="4520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</a:rPr>
              <a:t>Relevant Results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  <a:latin typeface="Aptos" panose="020B0004020202020204" pitchFamily="34" charset="0"/>
              </a:rPr>
              <a:t>Text, Images, Video</a:t>
            </a:r>
            <a:endParaRPr lang="en-IN" sz="1000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65FFD0D-B5DC-EF78-A348-C6AB1D310205}"/>
              </a:ext>
            </a:extLst>
          </p:cNvPr>
          <p:cNvGrpSpPr/>
          <p:nvPr/>
        </p:nvGrpSpPr>
        <p:grpSpPr>
          <a:xfrm>
            <a:off x="8662118" y="2611667"/>
            <a:ext cx="1918514" cy="1239359"/>
            <a:chOff x="8423350" y="2514600"/>
            <a:chExt cx="1918514" cy="123935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5B4111B-38F1-24AB-CAFF-46C86C33DEC1}"/>
                </a:ext>
              </a:extLst>
            </p:cNvPr>
            <p:cNvSpPr/>
            <p:nvPr/>
          </p:nvSpPr>
          <p:spPr>
            <a:xfrm>
              <a:off x="8423350" y="2514600"/>
              <a:ext cx="1918514" cy="123935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endParaRPr lang="en-IN" sz="10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endParaRPr lang="en-IN" sz="10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endParaRPr lang="en-IN" sz="10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endParaRPr lang="en-IN" sz="10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00" dirty="0">
                  <a:solidFill>
                    <a:schemeClr val="tx1"/>
                  </a:solidFill>
                  <a:latin typeface="Aptos" panose="020B0004020202020204" pitchFamily="34" charset="0"/>
                </a:rPr>
                <a:t>Stored Document Embeddings (Image, text, audio)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00" dirty="0">
                  <a:solidFill>
                    <a:schemeClr val="tx1"/>
                  </a:solidFill>
                  <a:latin typeface="Aptos" panose="020B0004020202020204" pitchFamily="34" charset="0"/>
                </a:rPr>
                <a:t>Payload Metadata</a:t>
              </a:r>
            </a:p>
            <a:p>
              <a:endParaRPr lang="en-IN" sz="1000" dirty="0"/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07049F7-CA02-1032-1DE6-A6BFCF804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8423350" y="2514601"/>
              <a:ext cx="1918514" cy="589440"/>
            </a:xfrm>
            <a:prstGeom prst="rect">
              <a:avLst/>
            </a:prstGeom>
          </p:spPr>
        </p:pic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947DE0B-6788-934A-396C-F11E73A186BD}"/>
              </a:ext>
            </a:extLst>
          </p:cNvPr>
          <p:cNvCxnSpPr>
            <a:cxnSpLocks/>
          </p:cNvCxnSpPr>
          <p:nvPr/>
        </p:nvCxnSpPr>
        <p:spPr>
          <a:xfrm>
            <a:off x="9557766" y="3848840"/>
            <a:ext cx="0" cy="43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99259AD2-BA83-47D1-D89B-7EA136CC62A2}"/>
              </a:ext>
            </a:extLst>
          </p:cNvPr>
          <p:cNvSpPr txBox="1"/>
          <p:nvPr/>
        </p:nvSpPr>
        <p:spPr>
          <a:xfrm>
            <a:off x="9557766" y="3913361"/>
            <a:ext cx="16209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Similarity Search &amp; Filtering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2E63D2-C30C-0543-58BE-58849BF631B8}"/>
              </a:ext>
            </a:extLst>
          </p:cNvPr>
          <p:cNvSpPr/>
          <p:nvPr/>
        </p:nvSpPr>
        <p:spPr>
          <a:xfrm>
            <a:off x="7495710" y="5479372"/>
            <a:ext cx="2786074" cy="1040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N" sz="1100" b="1" dirty="0">
                <a:solidFill>
                  <a:schemeClr val="tx1"/>
                </a:solidFill>
                <a:latin typeface="Aptos" panose="020B0004020202020204" pitchFamily="34" charset="0"/>
              </a:rPr>
              <a:t>Responsible Use &amp; Trust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Aptos" panose="020B0004020202020204" pitchFamily="34" charset="0"/>
              </a:rPr>
              <a:t>Dataset Ethics – PMC Open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  <a:latin typeface="Aptos" panose="020B0004020202020204" pitchFamily="34" charset="0"/>
              </a:rPr>
              <a:t>Deployment – </a:t>
            </a:r>
            <a:r>
              <a:rPr lang="en-IN" sz="1100" dirty="0" err="1">
                <a:solidFill>
                  <a:schemeClr val="tx1"/>
                </a:solidFill>
                <a:latin typeface="Aptos" panose="020B0004020202020204" pitchFamily="34" charset="0"/>
              </a:rPr>
              <a:t>Hackthon</a:t>
            </a:r>
            <a:r>
              <a:rPr lang="en-IN" sz="1100" dirty="0">
                <a:solidFill>
                  <a:schemeClr val="tx1"/>
                </a:solidFill>
                <a:latin typeface="Aptos" panose="020B0004020202020204" pitchFamily="34" charset="0"/>
              </a:rPr>
              <a:t> (not diagnosis)</a:t>
            </a:r>
            <a:endParaRPr lang="en-IN" sz="1100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B6DF5359-F7E6-703C-6691-F8C3491A71FD}"/>
              </a:ext>
            </a:extLst>
          </p:cNvPr>
          <p:cNvCxnSpPr>
            <a:stCxn id="69" idx="3"/>
          </p:cNvCxnSpPr>
          <p:nvPr/>
        </p:nvCxnSpPr>
        <p:spPr>
          <a:xfrm flipV="1">
            <a:off x="5946233" y="4193762"/>
            <a:ext cx="1570693" cy="7208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F10C4098-D228-B01E-57A0-6C787CEFE7C7}"/>
              </a:ext>
            </a:extLst>
          </p:cNvPr>
          <p:cNvCxnSpPr>
            <a:stCxn id="85" idx="1"/>
            <a:endCxn id="8" idx="3"/>
          </p:cNvCxnSpPr>
          <p:nvPr/>
        </p:nvCxnSpPr>
        <p:spPr>
          <a:xfrm rot="10800000">
            <a:off x="4471417" y="1126374"/>
            <a:ext cx="4181559" cy="33873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D5AFADD4-8FC9-C15A-1997-9C631EF42FBB}"/>
              </a:ext>
            </a:extLst>
          </p:cNvPr>
          <p:cNvCxnSpPr>
            <a:cxnSpLocks/>
            <a:stCxn id="85" idx="2"/>
            <a:endCxn id="24" idx="3"/>
          </p:cNvCxnSpPr>
          <p:nvPr/>
        </p:nvCxnSpPr>
        <p:spPr>
          <a:xfrm rot="5400000" flipH="1">
            <a:off x="5919142" y="1046634"/>
            <a:ext cx="2103388" cy="5282793"/>
          </a:xfrm>
          <a:prstGeom prst="bentConnector4">
            <a:avLst>
              <a:gd name="adj1" fmla="val -24345"/>
              <a:gd name="adj2" fmla="val 45405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: Folded Corner 111">
            <a:extLst>
              <a:ext uri="{FF2B5EF4-FFF2-40B4-BE49-F238E27FC236}">
                <a16:creationId xmlns:a16="http://schemas.microsoft.com/office/drawing/2014/main" id="{C3E0321C-928C-287E-BA50-8C3AC9839DB5}"/>
              </a:ext>
            </a:extLst>
          </p:cNvPr>
          <p:cNvSpPr/>
          <p:nvPr/>
        </p:nvSpPr>
        <p:spPr>
          <a:xfrm>
            <a:off x="3260583" y="5944956"/>
            <a:ext cx="1111044" cy="317041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dirty="0">
                <a:solidFill>
                  <a:schemeClr val="tx1"/>
                </a:solidFill>
              </a:rPr>
              <a:t>Vector Generation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00E07D4-3E8E-7322-C4A6-1AF5D8636632}"/>
              </a:ext>
            </a:extLst>
          </p:cNvPr>
          <p:cNvCxnSpPr>
            <a:stCxn id="112" idx="0"/>
            <a:endCxn id="69" idx="2"/>
          </p:cNvCxnSpPr>
          <p:nvPr/>
        </p:nvCxnSpPr>
        <p:spPr>
          <a:xfrm flipH="1" flipV="1">
            <a:off x="3592784" y="5506105"/>
            <a:ext cx="223321" cy="438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2D5BD80-064F-4D70-DC8C-856656CE3BD7}"/>
              </a:ext>
            </a:extLst>
          </p:cNvPr>
          <p:cNvCxnSpPr>
            <a:stCxn id="44" idx="3"/>
            <a:endCxn id="43" idx="1"/>
          </p:cNvCxnSpPr>
          <p:nvPr/>
        </p:nvCxnSpPr>
        <p:spPr>
          <a:xfrm flipV="1">
            <a:off x="1676770" y="3378405"/>
            <a:ext cx="968553" cy="393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59492FC-F9F4-D4FA-DFD1-45C98E67CA99}"/>
              </a:ext>
            </a:extLst>
          </p:cNvPr>
          <p:cNvCxnSpPr>
            <a:endCxn id="24" idx="1"/>
          </p:cNvCxnSpPr>
          <p:nvPr/>
        </p:nvCxnSpPr>
        <p:spPr>
          <a:xfrm>
            <a:off x="1907885" y="2636336"/>
            <a:ext cx="8142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F58E7C7-9456-F233-C5EF-1B5185D89EAC}"/>
              </a:ext>
            </a:extLst>
          </p:cNvPr>
          <p:cNvSpPr txBox="1"/>
          <p:nvPr/>
        </p:nvSpPr>
        <p:spPr>
          <a:xfrm>
            <a:off x="6148248" y="3603762"/>
            <a:ext cx="1378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Top-K Similar Matches </a:t>
            </a:r>
          </a:p>
        </p:txBody>
      </p:sp>
    </p:spTree>
    <p:extLst>
      <p:ext uri="{BB962C8B-B14F-4D97-AF65-F5344CB8AC3E}">
        <p14:creationId xmlns:p14="http://schemas.microsoft.com/office/powerpoint/2010/main" val="305247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118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Spandana Chalasani</dc:creator>
  <cp:lastModifiedBy>Sai Spandana Chalasani</cp:lastModifiedBy>
  <cp:revision>36</cp:revision>
  <dcterms:created xsi:type="dcterms:W3CDTF">2025-10-14T04:36:44Z</dcterms:created>
  <dcterms:modified xsi:type="dcterms:W3CDTF">2026-01-17T10:01:33Z</dcterms:modified>
</cp:coreProperties>
</file>